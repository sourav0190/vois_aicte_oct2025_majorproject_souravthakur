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8"/>
  </p:notesMasterIdLst>
  <p:handoutMasterIdLst>
    <p:handoutMasterId r:id="rId19"/>
  </p:handoutMasterIdLst>
  <p:sldIdLst>
    <p:sldId id="338" r:id="rId5"/>
    <p:sldId id="327" r:id="rId6"/>
    <p:sldId id="315" r:id="rId7"/>
    <p:sldId id="329" r:id="rId8"/>
    <p:sldId id="302" r:id="rId9"/>
    <p:sldId id="345" r:id="rId10"/>
    <p:sldId id="339" r:id="rId11"/>
    <p:sldId id="340" r:id="rId12"/>
    <p:sldId id="341" r:id="rId13"/>
    <p:sldId id="344" r:id="rId14"/>
    <p:sldId id="342" r:id="rId15"/>
    <p:sldId id="343" r:id="rId16"/>
    <p:sldId id="30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109B11-726B-622E-F1D0-53498C852A02}" v="122" dt="2025-09-25T09:02:38.15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10/18/2025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10/18/2025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10/18/2025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10/18/2025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10/18/2025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12871" y="4141999"/>
            <a:ext cx="5672652" cy="861497"/>
          </a:xfrm>
        </p:spPr>
        <p:txBody>
          <a:bodyPr>
            <a:normAutofit/>
          </a:bodyPr>
          <a:lstStyle/>
          <a:p>
            <a:pPr algn="r"/>
            <a:r>
              <a:rPr lang="en-US" b="0" dirty="0">
                <a:solidFill>
                  <a:schemeClr val="tx1"/>
                </a:solidFill>
              </a:rPr>
              <a:t>Sourav Thakur</a:t>
            </a:r>
            <a:br>
              <a:rPr lang="en-US" b="0" dirty="0">
                <a:solidFill>
                  <a:schemeClr val="tx1"/>
                </a:solidFill>
              </a:rPr>
            </a:br>
            <a:r>
              <a:rPr lang="en-IN" dirty="0"/>
              <a:t>INTERNSHIP_172663295366ea53f910591</a:t>
            </a:r>
            <a:endParaRPr lang="en-US"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312871" y="2050553"/>
            <a:ext cx="4998720" cy="743448"/>
          </a:xfrm>
        </p:spPr>
        <p:txBody>
          <a:bodyPr>
            <a:normAutofit/>
          </a:bodyPr>
          <a:lstStyle/>
          <a:p>
            <a:r>
              <a:rPr lang="en-IN" sz="3200" dirty="0">
                <a:solidFill>
                  <a:schemeClr val="accent2"/>
                </a:solidFill>
              </a:rPr>
              <a:t>Netflix Dataset Analysis </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62500" lnSpcReduction="20000"/>
          </a:bodyPr>
          <a:lstStyle/>
          <a:p>
            <a:pPr>
              <a:lnSpc>
                <a:spcPct val="150000"/>
              </a:lnSpc>
            </a:pPr>
            <a:r>
              <a:rPr lang="en-US" sz="2800" dirty="0">
                <a:solidFill>
                  <a:schemeClr val="accent2"/>
                </a:solidFill>
              </a:rPr>
              <a:t>This project focuses on analyzing Netflix’s content catalog to identify trends in Movies vs. TV Shows, genres, and country-wise contributions over the years (2008–2021). With increasing competition from other OTT platforms, the goal is to uncover content patterns and audience preferences that can guide Netflix in making strategic, data-driven decisions for future content acquisition and production.</a:t>
            </a:r>
            <a:endParaRPr lang="en-IN" sz="2800" dirty="0">
              <a:solidFill>
                <a:schemeClr val="accent2"/>
              </a:solidFill>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r>
              <a:rPr lang="en-US" sz="2000" dirty="0">
                <a:solidFill>
                  <a:schemeClr val="accent2"/>
                </a:solidFill>
              </a:rPr>
              <a:t>This project analyzes a Netflix dataset containing over 7,700 titles, including movies and TV shows released between 2008 and 2021. The goal is to uncover key content trends such as the growth of movies vs. TV shows, popular genres, and country-wise contributions. Using Python libraries like Pandas, Matplotlib, and Seaborn, the analysis provides visual insights into Netflix’s evolving content strategy and audience preferences, supporting data-driven recommendations for future content planning.</a:t>
            </a:r>
            <a:endParaRPr lang="en-IN" sz="2000" dirty="0">
              <a:solidFill>
                <a:schemeClr val="accent2"/>
              </a:solidFill>
            </a:endParaRP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92500"/>
          </a:bodyPr>
          <a:lstStyle/>
          <a:p>
            <a:r>
              <a:rPr lang="en-IN" sz="1600" b="1" dirty="0">
                <a:solidFill>
                  <a:schemeClr val="accent2"/>
                </a:solidFill>
              </a:rPr>
              <a:t>👥 End Users</a:t>
            </a:r>
          </a:p>
          <a:p>
            <a:r>
              <a:rPr lang="en-IN" sz="1600" b="1" dirty="0">
                <a:solidFill>
                  <a:schemeClr val="accent2"/>
                </a:solidFill>
              </a:rPr>
              <a:t>Netflix Content Strategy Team</a:t>
            </a:r>
            <a:br>
              <a:rPr lang="en-IN" sz="1600" dirty="0">
                <a:solidFill>
                  <a:schemeClr val="accent2"/>
                </a:solidFill>
              </a:rPr>
            </a:br>
            <a:r>
              <a:rPr lang="en-IN" sz="1600" dirty="0">
                <a:solidFill>
                  <a:schemeClr val="accent2"/>
                </a:solidFill>
              </a:rPr>
              <a:t>→ To identify which genres, regions, and formats (Movies vs. TV Shows) are performing best and guide future content investments.</a:t>
            </a:r>
          </a:p>
          <a:p>
            <a:r>
              <a:rPr lang="en-IN" sz="1600" b="1" dirty="0">
                <a:solidFill>
                  <a:schemeClr val="accent2"/>
                </a:solidFill>
              </a:rPr>
              <a:t>Marketing &amp; Recommendation Teams</a:t>
            </a:r>
            <a:br>
              <a:rPr lang="en-IN" sz="1600" dirty="0">
                <a:solidFill>
                  <a:schemeClr val="accent2"/>
                </a:solidFill>
              </a:rPr>
            </a:br>
            <a:r>
              <a:rPr lang="en-IN" sz="1600" dirty="0">
                <a:solidFill>
                  <a:schemeClr val="accent2"/>
                </a:solidFill>
              </a:rPr>
              <a:t>→ To understand audience preferences and design better personalized recommendations or promotional campaigns.</a:t>
            </a:r>
          </a:p>
          <a:p>
            <a:r>
              <a:rPr lang="en-IN" sz="1600" b="1" dirty="0">
                <a:solidFill>
                  <a:schemeClr val="accent2"/>
                </a:solidFill>
              </a:rPr>
              <a:t>Data Analysts &amp; Researchers</a:t>
            </a:r>
            <a:br>
              <a:rPr lang="en-IN" sz="1600" dirty="0">
                <a:solidFill>
                  <a:schemeClr val="accent2"/>
                </a:solidFill>
              </a:rPr>
            </a:br>
            <a:r>
              <a:rPr lang="en-IN" sz="1600" dirty="0">
                <a:solidFill>
                  <a:schemeClr val="accent2"/>
                </a:solidFill>
              </a:rPr>
              <a:t>→ To study content trends, diversity, and global representation patterns over time.</a:t>
            </a:r>
          </a:p>
          <a:p>
            <a:r>
              <a:rPr lang="en-IN" sz="1600" b="1" dirty="0">
                <a:solidFill>
                  <a:schemeClr val="accent2"/>
                </a:solidFill>
              </a:rPr>
              <a:t>Competitor OTT Platforms (e.g., Amazon Prime, Disney+)</a:t>
            </a:r>
            <a:br>
              <a:rPr lang="en-IN" sz="1600" dirty="0">
                <a:solidFill>
                  <a:schemeClr val="accent2"/>
                </a:solidFill>
              </a:rPr>
            </a:br>
            <a:r>
              <a:rPr lang="en-IN" sz="1600" dirty="0">
                <a:solidFill>
                  <a:schemeClr val="accent2"/>
                </a:solidFill>
              </a:rPr>
              <a:t>→ To benchmark Netflix’s content strategy and identify opportunities in underrepresented markets.</a:t>
            </a:r>
          </a:p>
          <a:p>
            <a:r>
              <a:rPr lang="en-IN" sz="1600" b="1" dirty="0">
                <a:solidFill>
                  <a:schemeClr val="accent2"/>
                </a:solidFill>
              </a:rPr>
              <a:t>Academia / Students (like you!)</a:t>
            </a:r>
            <a:br>
              <a:rPr lang="en-IN" sz="1600" dirty="0">
                <a:solidFill>
                  <a:schemeClr val="accent2"/>
                </a:solidFill>
              </a:rPr>
            </a:br>
            <a:r>
              <a:rPr lang="en-IN" sz="1600" dirty="0">
                <a:solidFill>
                  <a:schemeClr val="accent2"/>
                </a:solidFill>
              </a:rPr>
              <a:t>→ To learn data analytics techniques applied to real-world entertainment data.</a:t>
            </a:r>
          </a:p>
          <a:p>
            <a:pPr algn="just">
              <a:lnSpc>
                <a:spcPct val="150000"/>
              </a:lnSpc>
            </a:pPr>
            <a:endParaRPr lang="en-IN" sz="105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US" altLang="en-US" dirty="0">
                <a:solidFill>
                  <a:schemeClr val="accent2"/>
                </a:solidFill>
              </a:rPr>
              <a:t>Programming Language: Python</a:t>
            </a:r>
          </a:p>
          <a:p>
            <a:pPr lvl="1">
              <a:lnSpc>
                <a:spcPct val="150000"/>
              </a:lnSpc>
            </a:pPr>
            <a:r>
              <a:rPr lang="en-US" altLang="en-US" dirty="0">
                <a:solidFill>
                  <a:schemeClr val="accent2"/>
                </a:solidFill>
              </a:rPr>
              <a:t>Data Analysis Libraries: Pandas, NumPy</a:t>
            </a:r>
          </a:p>
          <a:p>
            <a:pPr lvl="1">
              <a:lnSpc>
                <a:spcPct val="150000"/>
              </a:lnSpc>
            </a:pPr>
            <a:r>
              <a:rPr lang="en-US" altLang="en-US" dirty="0">
                <a:solidFill>
                  <a:schemeClr val="accent2"/>
                </a:solidFill>
              </a:rPr>
              <a:t>Data Visualization Libraries: Matplotlib, Seaborn</a:t>
            </a:r>
          </a:p>
          <a:p>
            <a:pPr lvl="1">
              <a:lnSpc>
                <a:spcPct val="150000"/>
              </a:lnSpc>
            </a:pPr>
            <a:r>
              <a:rPr lang="en-US" altLang="en-US" dirty="0">
                <a:solidFill>
                  <a:schemeClr val="accent2"/>
                </a:solidFill>
              </a:rPr>
              <a:t>IDE / Notebook Environment: </a:t>
            </a:r>
            <a:r>
              <a:rPr lang="en-US" altLang="en-US" dirty="0" err="1">
                <a:solidFill>
                  <a:schemeClr val="accent2"/>
                </a:solidFill>
              </a:rPr>
              <a:t>Jupyter</a:t>
            </a:r>
            <a:r>
              <a:rPr lang="en-US" altLang="en-US" dirty="0">
                <a:solidFill>
                  <a:schemeClr val="accent2"/>
                </a:solidFill>
              </a:rPr>
              <a:t> Notebook / Google </a:t>
            </a:r>
            <a:r>
              <a:rPr lang="en-US" altLang="en-US" dirty="0" err="1">
                <a:solidFill>
                  <a:schemeClr val="accent2"/>
                </a:solidFill>
              </a:rPr>
              <a:t>Colab</a:t>
            </a:r>
            <a:endParaRPr lang="en-US" altLang="en-US" dirty="0">
              <a:solidFill>
                <a:schemeClr val="accent2"/>
              </a:solidFill>
            </a:endParaRPr>
          </a:p>
          <a:p>
            <a:pPr lvl="1">
              <a:lnSpc>
                <a:spcPct val="150000"/>
              </a:lnSpc>
            </a:pPr>
            <a:r>
              <a:rPr lang="en-US" altLang="en-US" dirty="0">
                <a:solidFill>
                  <a:schemeClr val="accent2"/>
                </a:solidFill>
              </a:rPr>
              <a:t>File Format: CSV (Netflix Dataset)</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545ACB25-CBCC-03DD-77F9-9CF9BAF09C0C}"/>
              </a:ext>
            </a:extLst>
          </p:cNvPr>
          <p:cNvSpPr>
            <a:spLocks noGrp="1"/>
          </p:cNvSpPr>
          <p:nvPr>
            <p:ph type="pic" sz="quarter" idx="10"/>
          </p:nvPr>
        </p:nvSpPr>
        <p:spPr/>
      </p:sp>
      <p:sp>
        <p:nvSpPr>
          <p:cNvPr id="3" name="Text Placeholder 2">
            <a:extLst>
              <a:ext uri="{FF2B5EF4-FFF2-40B4-BE49-F238E27FC236}">
                <a16:creationId xmlns:a16="http://schemas.microsoft.com/office/drawing/2014/main" id="{C1BC4332-D434-2D00-884A-374530E3DB9B}"/>
              </a:ext>
            </a:extLst>
          </p:cNvPr>
          <p:cNvSpPr>
            <a:spLocks noGrp="1"/>
          </p:cNvSpPr>
          <p:nvPr>
            <p:ph type="body" sz="quarter" idx="12"/>
          </p:nvPr>
        </p:nvSpPr>
        <p:spPr/>
        <p:txBody>
          <a:bodyPr/>
          <a:lstStyle/>
          <a:p>
            <a:endParaRPr lang="en-IN"/>
          </a:p>
        </p:txBody>
      </p:sp>
      <p:sp>
        <p:nvSpPr>
          <p:cNvPr id="4" name="Title 3">
            <a:extLst>
              <a:ext uri="{FF2B5EF4-FFF2-40B4-BE49-F238E27FC236}">
                <a16:creationId xmlns:a16="http://schemas.microsoft.com/office/drawing/2014/main" id="{D061FBCB-FA26-ADFD-89E6-0A18C87ECB25}"/>
              </a:ext>
            </a:extLst>
          </p:cNvPr>
          <p:cNvSpPr>
            <a:spLocks noGrp="1"/>
          </p:cNvSpPr>
          <p:nvPr>
            <p:ph type="title"/>
          </p:nvPr>
        </p:nvSpPr>
        <p:spPr>
          <a:xfrm>
            <a:off x="2610498" y="92654"/>
            <a:ext cx="4275138" cy="830997"/>
          </a:xfrm>
        </p:spPr>
        <p:txBody>
          <a:bodyPr/>
          <a:lstStyle/>
          <a:p>
            <a:r>
              <a:rPr lang="en-IN" dirty="0">
                <a:latin typeface="+mn-lt"/>
              </a:rPr>
              <a:t>Python code </a:t>
            </a:r>
          </a:p>
        </p:txBody>
      </p:sp>
      <p:pic>
        <p:nvPicPr>
          <p:cNvPr id="6" name="Picture 5">
            <a:extLst>
              <a:ext uri="{FF2B5EF4-FFF2-40B4-BE49-F238E27FC236}">
                <a16:creationId xmlns:a16="http://schemas.microsoft.com/office/drawing/2014/main" id="{0B427FED-30FF-7406-4C84-5A0A1CB1D622}"/>
              </a:ext>
            </a:extLst>
          </p:cNvPr>
          <p:cNvPicPr>
            <a:picLocks noChangeAspect="1"/>
          </p:cNvPicPr>
          <p:nvPr/>
        </p:nvPicPr>
        <p:blipFill>
          <a:blip r:embed="rId2"/>
          <a:stretch>
            <a:fillRect/>
          </a:stretch>
        </p:blipFill>
        <p:spPr>
          <a:xfrm>
            <a:off x="96142" y="951252"/>
            <a:ext cx="11589170" cy="5747657"/>
          </a:xfrm>
          <a:prstGeom prst="rect">
            <a:avLst/>
          </a:prstGeom>
        </p:spPr>
      </p:pic>
    </p:spTree>
    <p:extLst>
      <p:ext uri="{BB962C8B-B14F-4D97-AF65-F5344CB8AC3E}">
        <p14:creationId xmlns:p14="http://schemas.microsoft.com/office/powerpoint/2010/main" val="30327645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RESULTS1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dirty="0"/>
              <a:t>[Add screen shots of your code or Chart(s) ]</a:t>
            </a:r>
            <a:endParaRPr lang="en-IN" dirty="0"/>
          </a:p>
        </p:txBody>
      </p:sp>
      <p:pic>
        <p:nvPicPr>
          <p:cNvPr id="3" name="Picture 2">
            <a:extLst>
              <a:ext uri="{FF2B5EF4-FFF2-40B4-BE49-F238E27FC236}">
                <a16:creationId xmlns:a16="http://schemas.microsoft.com/office/drawing/2014/main" id="{1F9CD9BF-8D2C-F3A5-B46D-D30F82265059}"/>
              </a:ext>
            </a:extLst>
          </p:cNvPr>
          <p:cNvPicPr>
            <a:picLocks noChangeAspect="1"/>
          </p:cNvPicPr>
          <p:nvPr/>
        </p:nvPicPr>
        <p:blipFill>
          <a:blip r:embed="rId3"/>
          <a:stretch>
            <a:fillRect/>
          </a:stretch>
        </p:blipFill>
        <p:spPr>
          <a:xfrm>
            <a:off x="252597" y="1431693"/>
            <a:ext cx="10029738" cy="5323670"/>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dirty="0"/>
              <a:t>RESULTS2</a:t>
            </a:r>
            <a:endParaRPr lang="en-IN"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91963C39-9433-02BA-5A2B-62380BFD21C5}"/>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dirty="0"/>
              <a:t>[Add screen shots of your code or Chart(s) ]</a:t>
            </a:r>
            <a:endParaRPr lang="en-IN" dirty="0"/>
          </a:p>
        </p:txBody>
      </p:sp>
      <p:pic>
        <p:nvPicPr>
          <p:cNvPr id="3" name="Picture 2">
            <a:extLst>
              <a:ext uri="{FF2B5EF4-FFF2-40B4-BE49-F238E27FC236}">
                <a16:creationId xmlns:a16="http://schemas.microsoft.com/office/drawing/2014/main" id="{52B3196C-F12E-BFC0-3489-6B25B731744E}"/>
              </a:ext>
            </a:extLst>
          </p:cNvPr>
          <p:cNvPicPr>
            <a:picLocks noChangeAspect="1"/>
          </p:cNvPicPr>
          <p:nvPr/>
        </p:nvPicPr>
        <p:blipFill>
          <a:blip r:embed="rId3"/>
          <a:stretch>
            <a:fillRect/>
          </a:stretch>
        </p:blipFill>
        <p:spPr>
          <a:xfrm>
            <a:off x="125593" y="1275371"/>
            <a:ext cx="5970407" cy="4696480"/>
          </a:xfrm>
          <a:prstGeom prst="rect">
            <a:avLst/>
          </a:prstGeom>
        </p:spPr>
      </p:pic>
      <p:pic>
        <p:nvPicPr>
          <p:cNvPr id="9" name="Picture 8">
            <a:extLst>
              <a:ext uri="{FF2B5EF4-FFF2-40B4-BE49-F238E27FC236}">
                <a16:creationId xmlns:a16="http://schemas.microsoft.com/office/drawing/2014/main" id="{AFEAF07B-498F-4C88-FD13-EB5A605D09F8}"/>
              </a:ext>
            </a:extLst>
          </p:cNvPr>
          <p:cNvPicPr>
            <a:picLocks noChangeAspect="1"/>
          </p:cNvPicPr>
          <p:nvPr/>
        </p:nvPicPr>
        <p:blipFill>
          <a:blip r:embed="rId4"/>
          <a:stretch>
            <a:fillRect/>
          </a:stretch>
        </p:blipFill>
        <p:spPr>
          <a:xfrm>
            <a:off x="6114661" y="1608410"/>
            <a:ext cx="5951746" cy="4527434"/>
          </a:xfrm>
          <a:prstGeom prst="rect">
            <a:avLst/>
          </a:prstGeom>
        </p:spPr>
      </p:pic>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dirty="0"/>
              <a:t>RESULTS3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6B14C4F-1746-A8AB-D262-5A993160F568}"/>
              </a:ext>
            </a:extLst>
          </p:cNvPr>
          <p:cNvSpPr>
            <a:spLocks noGrp="1"/>
          </p:cNvSpPr>
          <p:nvPr>
            <p:ph type="body" sz="quarter" idx="12"/>
          </p:nvPr>
        </p:nvSpPr>
        <p:spPr>
          <a:xfrm>
            <a:off x="807164" y="1431693"/>
            <a:ext cx="4275138" cy="477520"/>
          </a:xfrm>
        </p:spPr>
        <p:txBody>
          <a:bodyPr>
            <a:normAutofit fontScale="77500" lnSpcReduction="20000"/>
          </a:bodyPr>
          <a:lstStyle/>
          <a:p>
            <a:pPr marL="0" indent="0">
              <a:buNone/>
            </a:pPr>
            <a:r>
              <a:rPr lang="en-US" dirty="0"/>
              <a:t>[Add screen shots of your code or Chart(s) ]</a:t>
            </a:r>
            <a:endParaRPr lang="en-IN" dirty="0"/>
          </a:p>
        </p:txBody>
      </p:sp>
      <p:pic>
        <p:nvPicPr>
          <p:cNvPr id="3" name="Picture 2">
            <a:extLst>
              <a:ext uri="{FF2B5EF4-FFF2-40B4-BE49-F238E27FC236}">
                <a16:creationId xmlns:a16="http://schemas.microsoft.com/office/drawing/2014/main" id="{AE099A5E-8AFC-081B-0FEE-C9E93D68CB64}"/>
              </a:ext>
            </a:extLst>
          </p:cNvPr>
          <p:cNvPicPr>
            <a:picLocks noChangeAspect="1"/>
          </p:cNvPicPr>
          <p:nvPr/>
        </p:nvPicPr>
        <p:blipFill>
          <a:blip r:embed="rId3"/>
          <a:stretch>
            <a:fillRect/>
          </a:stretch>
        </p:blipFill>
        <p:spPr>
          <a:xfrm>
            <a:off x="121298" y="1341931"/>
            <a:ext cx="6690049" cy="4478818"/>
          </a:xfrm>
          <a:prstGeom prst="rect">
            <a:avLst/>
          </a:prstGeom>
        </p:spPr>
      </p:pic>
      <p:pic>
        <p:nvPicPr>
          <p:cNvPr id="9" name="Picture 8">
            <a:extLst>
              <a:ext uri="{FF2B5EF4-FFF2-40B4-BE49-F238E27FC236}">
                <a16:creationId xmlns:a16="http://schemas.microsoft.com/office/drawing/2014/main" id="{A388324F-941B-5FB9-CBD3-C1DCF5F77911}"/>
              </a:ext>
            </a:extLst>
          </p:cNvPr>
          <p:cNvPicPr>
            <a:picLocks noChangeAspect="1"/>
          </p:cNvPicPr>
          <p:nvPr/>
        </p:nvPicPr>
        <p:blipFill>
          <a:blip r:embed="rId4"/>
          <a:stretch>
            <a:fillRect/>
          </a:stretch>
        </p:blipFill>
        <p:spPr>
          <a:xfrm>
            <a:off x="6923314" y="1431693"/>
            <a:ext cx="5268685" cy="4287972"/>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807164" y="2845837"/>
            <a:ext cx="11807623" cy="1139826"/>
          </a:xfrm>
        </p:spPr>
        <p:txBody>
          <a:bodyPr vert="horz" lIns="91440" tIns="45720" rIns="91440" bIns="45720" rtlCol="0" anchor="t">
            <a:normAutofit/>
          </a:bodyPr>
          <a:lstStyle/>
          <a:p>
            <a:pPr marL="0" indent="0">
              <a:buNone/>
            </a:pPr>
            <a:r>
              <a:rPr lang="en-US" dirty="0">
                <a:solidFill>
                  <a:schemeClr val="accent2"/>
                </a:solidFill>
              </a:rPr>
              <a:t>https://github.com/sourav0190/VOIS_AICTE_Oct2025_MajorProject_SouravThakur.git</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7" name="Text Placeholder 30">
            <a:extLst>
              <a:ext uri="{FF2B5EF4-FFF2-40B4-BE49-F238E27FC236}">
                <a16:creationId xmlns:a16="http://schemas.microsoft.com/office/drawing/2014/main" id="{C0B10ED4-748B-FD2D-3185-4AB559AC71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460BF899-F7CC-395F-D4B6-232771689F29}"/>
              </a:ext>
            </a:extLst>
          </p:cNvPr>
          <p:cNvSpPr>
            <a:spLocks noGrp="1"/>
          </p:cNvSpPr>
          <p:nvPr>
            <p:ph type="body" sz="quarter" idx="12"/>
          </p:nvPr>
        </p:nvSpPr>
        <p:spPr>
          <a:xfrm>
            <a:off x="833043" y="1183154"/>
            <a:ext cx="4275138" cy="477520"/>
          </a:xfrm>
        </p:spPr>
        <p:txBody>
          <a:bodyPr/>
          <a:lstStyle/>
          <a:p>
            <a:pPr marL="0" indent="0">
              <a:buNone/>
            </a:pPr>
            <a:endParaRPr lang="en-IN" dirty="0"/>
          </a:p>
        </p:txBody>
      </p:sp>
      <p:pic>
        <p:nvPicPr>
          <p:cNvPr id="3" name="Picture 2">
            <a:extLst>
              <a:ext uri="{FF2B5EF4-FFF2-40B4-BE49-F238E27FC236}">
                <a16:creationId xmlns:a16="http://schemas.microsoft.com/office/drawing/2014/main" id="{593B2797-F100-C133-7FD0-9D408E07A276}"/>
              </a:ext>
            </a:extLst>
          </p:cNvPr>
          <p:cNvPicPr>
            <a:picLocks noChangeAspect="1"/>
          </p:cNvPicPr>
          <p:nvPr/>
        </p:nvPicPr>
        <p:blipFill>
          <a:blip r:embed="rId3"/>
          <a:stretch>
            <a:fillRect/>
          </a:stretch>
        </p:blipFill>
        <p:spPr>
          <a:xfrm>
            <a:off x="675957" y="1160629"/>
            <a:ext cx="10892066" cy="5697371"/>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D48169FB-B4CE-0F31-B897-737AB3A70EC0}"/>
              </a:ext>
            </a:extLst>
          </p:cNvPr>
          <p:cNvSpPr>
            <a:spLocks noGrp="1"/>
          </p:cNvSpPr>
          <p:nvPr>
            <p:ph type="body" sz="quarter" idx="12"/>
          </p:nvPr>
        </p:nvSpPr>
        <p:spPr>
          <a:xfrm>
            <a:off x="833043" y="1183154"/>
            <a:ext cx="4275138" cy="477520"/>
          </a:xfrm>
        </p:spPr>
        <p:txBody>
          <a:bodyPr/>
          <a:lstStyle/>
          <a:p>
            <a:pPr marL="0" indent="0">
              <a:buNone/>
            </a:pPr>
            <a:endParaRPr lang="en-IN" dirty="0"/>
          </a:p>
        </p:txBody>
      </p:sp>
      <p:pic>
        <p:nvPicPr>
          <p:cNvPr id="2" name="Picture 1">
            <a:extLst>
              <a:ext uri="{FF2B5EF4-FFF2-40B4-BE49-F238E27FC236}">
                <a16:creationId xmlns:a16="http://schemas.microsoft.com/office/drawing/2014/main" id="{ABF3545A-2859-0D70-E41C-CE2A1AF93BD8}"/>
              </a:ext>
            </a:extLst>
          </p:cNvPr>
          <p:cNvPicPr>
            <a:picLocks noChangeAspect="1"/>
          </p:cNvPicPr>
          <p:nvPr/>
        </p:nvPicPr>
        <p:blipFill>
          <a:blip r:embed="rId3"/>
          <a:stretch>
            <a:fillRect/>
          </a:stretch>
        </p:blipFill>
        <p:spPr>
          <a:xfrm>
            <a:off x="479311" y="1009778"/>
            <a:ext cx="10176387" cy="5697794"/>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nodePh="1">
                                  <p:stCondLst>
                                    <p:cond delay="0"/>
                                  </p:stCondLst>
                                  <p:endCondLst>
                                    <p:cond evt="begin" delay="0">
                                      <p:tn val="26"/>
                                    </p:cond>
                                  </p:end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613</TotalTime>
  <Words>404</Words>
  <Application>Microsoft Office PowerPoint</Application>
  <PresentationFormat>Widescreen</PresentationFormat>
  <Paragraphs>33</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Trebuchet MS</vt:lpstr>
      <vt:lpstr>Wingdings</vt:lpstr>
      <vt:lpstr>Wingdings 3</vt:lpstr>
      <vt:lpstr>Facet</vt:lpstr>
      <vt:lpstr>Netflix Dataset Analysis </vt:lpstr>
      <vt:lpstr>PROBLEM  STATEMENT</vt:lpstr>
      <vt:lpstr>Project Description  This project analyzes a Netflix dataset containing over 7,700 titles, including movies and TV shows released between 2008 and 2021. The goal is to uncover key content trends such as the growth of movies vs. TV shows, popular genres, and country-wise contributions. Using Python libraries like Pandas, Matplotlib, and Seaborn, the analysis provides visual insights into Netflix’s evolving content strategy and audience preferences, supporting data-driven recommendations for future content planning.</vt:lpstr>
      <vt:lpstr>WHO ARE THE END USERS?</vt:lpstr>
      <vt:lpstr>Technology Used</vt:lpstr>
      <vt:lpstr>Python code </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Sourav thakur</cp:lastModifiedBy>
  <cp:revision>110</cp:revision>
  <dcterms:created xsi:type="dcterms:W3CDTF">2021-07-11T13:13:15Z</dcterms:created>
  <dcterms:modified xsi:type="dcterms:W3CDTF">2025-10-18T14:53:13Z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